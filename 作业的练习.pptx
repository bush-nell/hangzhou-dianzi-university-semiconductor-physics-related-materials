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9" r:id="rId9"/>
    <p:sldId id="264" r:id="rId10"/>
    <p:sldId id="281" r:id="rId11"/>
    <p:sldId id="282" r:id="rId12"/>
    <p:sldId id="265" r:id="rId13"/>
    <p:sldId id="266" r:id="rId14"/>
    <p:sldId id="267" r:id="rId15"/>
    <p:sldId id="268" r:id="rId16"/>
    <p:sldId id="270" r:id="rId17"/>
    <p:sldId id="272" r:id="rId18"/>
    <p:sldId id="275" r:id="rId19"/>
    <p:sldId id="294" r:id="rId20"/>
    <p:sldId id="276" r:id="rId21"/>
    <p:sldId id="274" r:id="rId22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6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763" y="62"/>
      </p:cViewPr>
      <p:guideLst>
        <p:guide orient="horz" pos="2160"/>
        <p:guide pos="28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作业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</a:t>
            </a:r>
          </a:p>
        </p:txBody>
      </p:sp>
      <p:pic>
        <p:nvPicPr>
          <p:cNvPr id="307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52600"/>
            <a:ext cx="8382000" cy="12366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52800"/>
            <a:ext cx="7477125" cy="219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</a:t>
            </a:r>
          </a:p>
        </p:txBody>
      </p:sp>
      <p:pic>
        <p:nvPicPr>
          <p:cNvPr id="409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95400"/>
            <a:ext cx="8505825" cy="5164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52400"/>
            <a:ext cx="8229600" cy="3748088"/>
          </a:xfrm>
        </p:spPr>
      </p:pic>
      <p:pic>
        <p:nvPicPr>
          <p:cNvPr id="5122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810000"/>
            <a:ext cx="3352800" cy="2951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38200"/>
            <a:ext cx="8686800" cy="4665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</a:t>
            </a:r>
          </a:p>
        </p:txBody>
      </p:sp>
      <p:pic>
        <p:nvPicPr>
          <p:cNvPr id="819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52600"/>
            <a:ext cx="8524875" cy="3733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8340725" cy="4953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图片 849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363" y="404813"/>
            <a:ext cx="3859212" cy="2452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6" name="图片 84994"/>
          <p:cNvPicPr>
            <a:picLocks noChangeAspect="1"/>
          </p:cNvPicPr>
          <p:nvPr/>
        </p:nvPicPr>
        <p:blipFill>
          <a:blip r:embed="rId3"/>
          <a:srcRect r="3253"/>
          <a:stretch>
            <a:fillRect/>
          </a:stretch>
        </p:blipFill>
        <p:spPr>
          <a:xfrm>
            <a:off x="838200" y="1828800"/>
            <a:ext cx="4343400" cy="1012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7" name="图片 849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48000"/>
            <a:ext cx="4713288" cy="142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8" name="图片 84996"/>
          <p:cNvPicPr>
            <a:picLocks noChangeAspect="1"/>
          </p:cNvPicPr>
          <p:nvPr/>
        </p:nvPicPr>
        <p:blipFill>
          <a:blip r:embed="rId5"/>
          <a:srcRect r="2161"/>
          <a:stretch>
            <a:fillRect/>
          </a:stretch>
        </p:blipFill>
        <p:spPr>
          <a:xfrm>
            <a:off x="0" y="4953000"/>
            <a:ext cx="8839200" cy="1035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9" name="文本框 84997"/>
          <p:cNvSpPr txBox="1"/>
          <p:nvPr/>
        </p:nvSpPr>
        <p:spPr>
          <a:xfrm>
            <a:off x="457200" y="381000"/>
            <a:ext cx="513397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457200" indent="-457200">
              <a:buAutoNum type="arabicParenBoth"/>
            </a:pPr>
            <a:r>
              <a:rPr lang="zh-CN" altLang="en-US" dirty="0">
                <a:latin typeface="Times New Roman" panose="02020603050405020304" pitchFamily="18" charset="0"/>
              </a:rPr>
              <a:t>在耗尽层内，净电荷正比于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-N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  <a:p>
            <a:pPr marL="457200" indent="-457200"/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</a:rPr>
              <a:t>在耗尽层外，净电荷为0</a:t>
            </a:r>
          </a:p>
        </p:txBody>
      </p:sp>
      <p:sp>
        <p:nvSpPr>
          <p:cNvPr id="36870" name="文本框 84998"/>
          <p:cNvSpPr txBox="1"/>
          <p:nvPr/>
        </p:nvSpPr>
        <p:spPr>
          <a:xfrm>
            <a:off x="5791200" y="304800"/>
            <a:ext cx="539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(2)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6871" name="文本框 84999"/>
          <p:cNvSpPr txBox="1"/>
          <p:nvPr/>
        </p:nvSpPr>
        <p:spPr>
          <a:xfrm>
            <a:off x="441325" y="1336675"/>
            <a:ext cx="539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(3)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</a:t>
            </a:r>
          </a:p>
        </p:txBody>
      </p:sp>
      <p:pic>
        <p:nvPicPr>
          <p:cNvPr id="1024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7796213" cy="4191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文本占位符 26626"/>
          <p:cNvSpPr>
            <a:spLocks noGrp="1"/>
          </p:cNvSpPr>
          <p:nvPr>
            <p:ph idx="1"/>
          </p:nvPr>
        </p:nvSpPr>
        <p:spPr>
          <a:xfrm>
            <a:off x="685800" y="381000"/>
            <a:ext cx="7772400" cy="3581400"/>
          </a:xfrm>
        </p:spPr>
        <p:txBody>
          <a:bodyPr anchor="t"/>
          <a:lstStyle/>
          <a:p>
            <a:pPr>
              <a:lnSpc>
                <a:spcPct val="90000"/>
              </a:lnSpc>
              <a:buNone/>
            </a:pPr>
            <a:r>
              <a:rPr lang="zh-CN" altLang="en-US" sz="2400" dirty="0"/>
              <a:t>问：下图是室温下一个</a:t>
            </a:r>
            <a:r>
              <a:rPr lang="en-US" altLang="zh-CN" sz="2400" err="1"/>
              <a:t>pn</a:t>
            </a:r>
            <a:r>
              <a:rPr lang="zh-CN" altLang="en-US" sz="2400" dirty="0"/>
              <a:t>结二极管内的稳态载流子浓度图，图上标出了刻度。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/>
              <a:t>a）</a:t>
            </a:r>
            <a:r>
              <a:rPr lang="zh-CN" altLang="en-US" sz="2400" dirty="0"/>
              <a:t>二极管是正向还是反向偏置？并加以解释。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/>
              <a:t>b）</a:t>
            </a:r>
            <a:r>
              <a:rPr lang="zh-CN" altLang="en-US" sz="2400" dirty="0"/>
              <a:t>二极管准中性区域是否满足小电流注入条件？请解释你是如何得到答案的。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/>
              <a:t>c）</a:t>
            </a:r>
            <a:r>
              <a:rPr lang="zh-CN" altLang="en-US" sz="2400" dirty="0"/>
              <a:t>确定外加电压</a:t>
            </a:r>
            <a:r>
              <a:rPr lang="en-US" altLang="zh-CN" sz="2400"/>
              <a:t>V</a:t>
            </a:r>
            <a:r>
              <a:rPr lang="en-US" altLang="zh-CN" sz="2400" baseline="-25000"/>
              <a:t>A</a:t>
            </a:r>
            <a:r>
              <a:rPr lang="en-US" altLang="zh-CN" sz="2400"/>
              <a:t>。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/>
              <a:t>（d）</a:t>
            </a:r>
            <a:r>
              <a:rPr lang="zh-CN" altLang="en-US" sz="2400" dirty="0"/>
              <a:t>确定空穴扩散长度</a:t>
            </a:r>
            <a:r>
              <a:rPr lang="en-US" altLang="zh-CN" sz="2400"/>
              <a:t>L</a:t>
            </a:r>
            <a:r>
              <a:rPr lang="en-US" altLang="zh-CN" sz="2400" baseline="-25000"/>
              <a:t>P</a:t>
            </a:r>
            <a:r>
              <a:rPr lang="en-US" altLang="zh-CN" sz="2400"/>
              <a:t>。</a:t>
            </a:r>
          </a:p>
        </p:txBody>
      </p:sp>
      <p:pic>
        <p:nvPicPr>
          <p:cNvPr id="57346" name="图片 266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19400"/>
            <a:ext cx="3657600" cy="3187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" y="109538"/>
            <a:ext cx="8172450" cy="2954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0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238" y="2989263"/>
            <a:ext cx="5438775" cy="3859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pic>
        <p:nvPicPr>
          <p:cNvPr id="1126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5800"/>
            <a:ext cx="6772275" cy="3324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14800"/>
            <a:ext cx="6858000" cy="1593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</a:t>
            </a:r>
          </a:p>
        </p:txBody>
      </p:sp>
      <p:pic>
        <p:nvPicPr>
          <p:cNvPr id="12290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828800"/>
            <a:ext cx="8228013" cy="34290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</a:t>
            </a:r>
          </a:p>
        </p:txBody>
      </p:sp>
      <p:pic>
        <p:nvPicPr>
          <p:cNvPr id="1331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7532688" cy="426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五角星 4"/>
          <p:cNvSpPr/>
          <p:nvPr/>
        </p:nvSpPr>
        <p:spPr>
          <a:xfrm>
            <a:off x="1165225" y="2210435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五角星 1"/>
          <p:cNvSpPr/>
          <p:nvPr/>
        </p:nvSpPr>
        <p:spPr>
          <a:xfrm>
            <a:off x="1165225" y="2486025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10</a:t>
            </a:r>
            <a:r>
              <a:rPr lang="zh-CN" altLang="en-US" dirty="0"/>
              <a:t>章</a:t>
            </a:r>
          </a:p>
        </p:txBody>
      </p:sp>
      <p:pic>
        <p:nvPicPr>
          <p:cNvPr id="1433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71600"/>
            <a:ext cx="6677025" cy="5114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五角星 1"/>
          <p:cNvSpPr/>
          <p:nvPr/>
        </p:nvSpPr>
        <p:spPr>
          <a:xfrm>
            <a:off x="1524000" y="1915160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五角星 2"/>
          <p:cNvSpPr/>
          <p:nvPr/>
        </p:nvSpPr>
        <p:spPr>
          <a:xfrm>
            <a:off x="1524000" y="2159000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五角星 4"/>
          <p:cNvSpPr/>
          <p:nvPr/>
        </p:nvSpPr>
        <p:spPr>
          <a:xfrm>
            <a:off x="1524000" y="2419350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五角星 5"/>
          <p:cNvSpPr/>
          <p:nvPr/>
        </p:nvSpPr>
        <p:spPr>
          <a:xfrm>
            <a:off x="1524000" y="3153410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五角星 6"/>
          <p:cNvSpPr/>
          <p:nvPr/>
        </p:nvSpPr>
        <p:spPr>
          <a:xfrm>
            <a:off x="1524000" y="3921125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五角星 7"/>
          <p:cNvSpPr/>
          <p:nvPr/>
        </p:nvSpPr>
        <p:spPr>
          <a:xfrm>
            <a:off x="1524000" y="4180205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五角星 8"/>
          <p:cNvSpPr/>
          <p:nvPr/>
        </p:nvSpPr>
        <p:spPr>
          <a:xfrm>
            <a:off x="1524000" y="4446905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62000"/>
            <a:ext cx="6677025" cy="2314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05200"/>
            <a:ext cx="6562725" cy="44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10000"/>
            <a:ext cx="6448425" cy="2028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pic>
        <p:nvPicPr>
          <p:cNvPr id="1843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6772275" cy="1533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5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429000"/>
            <a:ext cx="3914775" cy="2314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章</a:t>
            </a:r>
          </a:p>
        </p:txBody>
      </p:sp>
      <p:pic>
        <p:nvPicPr>
          <p:cNvPr id="2048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8" y="1509713"/>
            <a:ext cx="6677025" cy="3838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五角星 5"/>
          <p:cNvSpPr/>
          <p:nvPr/>
        </p:nvSpPr>
        <p:spPr>
          <a:xfrm>
            <a:off x="1465580" y="2160270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五角星 1"/>
          <p:cNvSpPr/>
          <p:nvPr/>
        </p:nvSpPr>
        <p:spPr>
          <a:xfrm>
            <a:off x="1465580" y="4672965"/>
            <a:ext cx="152400" cy="142875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F32DB04-8FA2-AFED-5583-03D8BBE86CCC}"/>
              </a:ext>
            </a:extLst>
          </p:cNvPr>
          <p:cNvSpPr/>
          <p:nvPr/>
        </p:nvSpPr>
        <p:spPr bwMode="auto">
          <a:xfrm>
            <a:off x="1295486" y="4190980"/>
            <a:ext cx="322494" cy="14287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496570" y="4387215"/>
            <a:ext cx="81083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1600">
                <a:ea typeface="宋体" panose="02010600030101010101" pitchFamily="2" charset="-122"/>
              </a:rPr>
              <a:t>在通过在掺杂为</a:t>
            </a:r>
            <a:r>
              <a:rPr lang="en-US" sz="1600">
                <a:latin typeface="宋体" panose="02010600030101010101" pitchFamily="2" charset="-122"/>
              </a:rPr>
              <a:t>N</a:t>
            </a:r>
            <a:r>
              <a:rPr lang="en-US" sz="1600" baseline="-25000">
                <a:latin typeface="宋体" panose="02010600030101010101" pitchFamily="2" charset="-122"/>
              </a:rPr>
              <a:t>D</a:t>
            </a:r>
            <a:r>
              <a:rPr lang="en-US" sz="1600">
                <a:latin typeface="宋体" panose="02010600030101010101" pitchFamily="2" charset="-122"/>
              </a:rPr>
              <a:t>=10</a:t>
            </a:r>
            <a:r>
              <a:rPr lang="en-US" sz="1600" baseline="30000">
                <a:latin typeface="宋体" panose="02010600030101010101" pitchFamily="2" charset="-122"/>
              </a:rPr>
              <a:t>15</a:t>
            </a:r>
            <a:r>
              <a:rPr lang="en-US" sz="1600">
                <a:latin typeface="宋体" panose="02010600030101010101" pitchFamily="2" charset="-122"/>
              </a:rPr>
              <a:t>/cm</a:t>
            </a:r>
            <a:r>
              <a:rPr lang="en-US" sz="1600" baseline="30000">
                <a:latin typeface="宋体" panose="02010600030101010101" pitchFamily="2" charset="-122"/>
              </a:rPr>
              <a:t>3</a:t>
            </a:r>
            <a:r>
              <a:rPr lang="zh-CN" sz="1600">
                <a:ea typeface="宋体" panose="02010600030101010101" pitchFamily="2" charset="-122"/>
              </a:rPr>
              <a:t>的室温下的硅衬底上生长金（</a:t>
            </a:r>
            <a:r>
              <a:rPr lang="en-US" sz="1600">
                <a:latin typeface="宋体" panose="02010600030101010101" pitchFamily="2" charset="-122"/>
              </a:rPr>
              <a:t>Φ</a:t>
            </a:r>
            <a:r>
              <a:rPr lang="en-US" sz="1600" baseline="-25000">
                <a:latin typeface="宋体" panose="02010600030101010101" pitchFamily="2" charset="-122"/>
              </a:rPr>
              <a:t>M</a:t>
            </a:r>
            <a:r>
              <a:rPr lang="en-US" sz="1600">
                <a:latin typeface="宋体" panose="02010600030101010101" pitchFamily="2" charset="-122"/>
              </a:rPr>
              <a:t>=5.10 eV</a:t>
            </a:r>
            <a:r>
              <a:rPr lang="zh-CN" sz="1600">
                <a:ea typeface="宋体" panose="02010600030101010101" pitchFamily="2" charset="-122"/>
              </a:rPr>
              <a:t>）形成了理想的整流接触。计算：</a:t>
            </a:r>
          </a:p>
          <a:p>
            <a:r>
              <a:rPr lang="zh-CN" sz="1600">
                <a:ea typeface="宋体" panose="02010600030101010101" pitchFamily="2" charset="-122"/>
              </a:rPr>
              <a:t>（</a:t>
            </a:r>
            <a:r>
              <a:rPr lang="en-US" sz="1600">
                <a:latin typeface="宋体" panose="02010600030101010101" pitchFamily="2" charset="-122"/>
              </a:rPr>
              <a:t>a</a:t>
            </a:r>
            <a:r>
              <a:rPr lang="zh-CN" sz="1600">
                <a:ea typeface="宋体" panose="02010600030101010101" pitchFamily="2" charset="-122"/>
              </a:rPr>
              <a:t>）</a:t>
            </a:r>
            <a:r>
              <a:rPr lang="en-US" sz="1600">
                <a:latin typeface="宋体" panose="02010600030101010101" pitchFamily="2" charset="-122"/>
              </a:rPr>
              <a:t>Φ</a:t>
            </a:r>
            <a:r>
              <a:rPr lang="en-US" sz="1600" baseline="-25000">
                <a:latin typeface="宋体" panose="02010600030101010101" pitchFamily="2" charset="-122"/>
              </a:rPr>
              <a:t>B </a:t>
            </a:r>
            <a:r>
              <a:rPr lang="zh-CN" sz="1600">
                <a:ea typeface="宋体" panose="02010600030101010101" pitchFamily="2" charset="-122"/>
              </a:rPr>
              <a:t>（</a:t>
            </a:r>
            <a:r>
              <a:rPr lang="en-US" sz="1600">
                <a:latin typeface="宋体" panose="02010600030101010101" pitchFamily="2" charset="-122"/>
              </a:rPr>
              <a:t>b</a:t>
            </a:r>
            <a:r>
              <a:rPr lang="zh-CN" sz="1600">
                <a:ea typeface="宋体" panose="02010600030101010101" pitchFamily="2" charset="-122"/>
              </a:rPr>
              <a:t>）</a:t>
            </a:r>
            <a:r>
              <a:rPr lang="en-US" sz="1600">
                <a:latin typeface="Times New Roman" panose="02020603050405020304" pitchFamily="18" charset="0"/>
              </a:rPr>
              <a:t>V</a:t>
            </a:r>
            <a:r>
              <a:rPr lang="en-US" sz="1600" baseline="-25000">
                <a:latin typeface="宋体" panose="02010600030101010101" pitchFamily="2" charset="-122"/>
              </a:rPr>
              <a:t>bi  </a:t>
            </a:r>
            <a:endParaRPr lang="en-US" altLang="en-US" sz="1600">
              <a:latin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6570" y="576580"/>
            <a:ext cx="749046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1800">
                <a:ea typeface="宋体" panose="02010600030101010101" pitchFamily="2" charset="-122"/>
              </a:rPr>
              <a:t>铜淀积在一个特别准备的</a:t>
            </a:r>
            <a:r>
              <a:rPr lang="en-US" sz="1800">
                <a:latin typeface="宋体" panose="02010600030101010101" pitchFamily="2" charset="-122"/>
              </a:rPr>
              <a:t>n</a:t>
            </a:r>
            <a:r>
              <a:rPr lang="zh-CN" sz="1800">
                <a:ea typeface="宋体" panose="02010600030101010101" pitchFamily="2" charset="-122"/>
              </a:rPr>
              <a:t>型硅衬底上，形成理想的肖特基二极管，已知</a:t>
            </a:r>
            <a:r>
              <a:rPr lang="en-US" sz="1800">
                <a:latin typeface="宋体" panose="02010600030101010101" pitchFamily="2" charset="-122"/>
              </a:rPr>
              <a:t>Φ</a:t>
            </a:r>
            <a:r>
              <a:rPr lang="en-US" sz="1800" baseline="-25000">
                <a:latin typeface="宋体" panose="02010600030101010101" pitchFamily="2" charset="-122"/>
              </a:rPr>
              <a:t>M</a:t>
            </a:r>
            <a:r>
              <a:rPr lang="en-US" sz="1800">
                <a:latin typeface="宋体" panose="02010600030101010101" pitchFamily="2" charset="-122"/>
              </a:rPr>
              <a:t>=4.65eV</a:t>
            </a:r>
            <a:r>
              <a:rPr lang="zh-CN" sz="1800">
                <a:ea typeface="宋体" panose="02010600030101010101" pitchFamily="2" charset="-122"/>
              </a:rPr>
              <a:t>，</a:t>
            </a:r>
            <a:r>
              <a:rPr lang="en-US">
                <a:latin typeface="宋体" panose="02010600030101010101" pitchFamily="2" charset="-122"/>
                <a:sym typeface="+mn-ea"/>
              </a:rPr>
              <a:t>=4.03eV</a:t>
            </a:r>
            <a:r>
              <a:rPr lang="zh-CN">
                <a:sym typeface="+mn-ea"/>
              </a:rPr>
              <a:t>，</a:t>
            </a:r>
            <a:r>
              <a:rPr lang="en-US" i="1">
                <a:latin typeface="宋体" panose="02010600030101010101" pitchFamily="2" charset="-122"/>
                <a:sym typeface="+mn-ea"/>
              </a:rPr>
              <a:t>N</a:t>
            </a:r>
            <a:r>
              <a:rPr lang="en-US" i="1" baseline="-25000">
                <a:latin typeface="宋体" panose="02010600030101010101" pitchFamily="2" charset="-122"/>
                <a:sym typeface="+mn-ea"/>
              </a:rPr>
              <a:t>D</a:t>
            </a:r>
            <a:r>
              <a:rPr lang="en-US" i="1">
                <a:latin typeface="宋体" panose="02010600030101010101" pitchFamily="2" charset="-122"/>
                <a:sym typeface="+mn-ea"/>
              </a:rPr>
              <a:t>=10</a:t>
            </a:r>
            <a:r>
              <a:rPr lang="en-US" i="1" baseline="30000">
                <a:latin typeface="宋体" panose="02010600030101010101" pitchFamily="2" charset="-122"/>
                <a:sym typeface="+mn-ea"/>
              </a:rPr>
              <a:t>16</a:t>
            </a:r>
            <a:r>
              <a:rPr lang="en-US">
                <a:latin typeface="宋体" panose="02010600030101010101" pitchFamily="2" charset="-122"/>
                <a:sym typeface="+mn-ea"/>
              </a:rPr>
              <a:t>/cm</a:t>
            </a:r>
            <a:r>
              <a:rPr lang="en-US" baseline="30000">
                <a:latin typeface="宋体" panose="02010600030101010101" pitchFamily="2" charset="-122"/>
                <a:sym typeface="+mn-ea"/>
              </a:rPr>
              <a:t>3</a:t>
            </a:r>
            <a:r>
              <a:rPr lang="en-US">
                <a:latin typeface="宋体" panose="02010600030101010101" pitchFamily="2" charset="-122"/>
                <a:sym typeface="+mn-ea"/>
              </a:rPr>
              <a:t>, </a:t>
            </a:r>
            <a:r>
              <a:rPr lang="zh-CN">
                <a:sym typeface="+mn-ea"/>
              </a:rPr>
              <a:t>以及</a:t>
            </a:r>
            <a:r>
              <a:rPr lang="en-US">
                <a:latin typeface="Times New Roman" panose="02020603050405020304" pitchFamily="18" charset="0"/>
                <a:sym typeface="+mn-ea"/>
              </a:rPr>
              <a:t>T = 300K</a:t>
            </a:r>
            <a:r>
              <a:rPr lang="zh-CN">
                <a:sym typeface="+mn-ea"/>
              </a:rPr>
              <a:t>。计算：</a:t>
            </a:r>
          </a:p>
          <a:p>
            <a:r>
              <a:rPr lang="zh-CN">
                <a:sym typeface="+mn-ea"/>
              </a:rPr>
              <a:t>（</a:t>
            </a:r>
            <a:r>
              <a:rPr lang="en-US">
                <a:latin typeface="宋体" panose="02010600030101010101" pitchFamily="2" charset="-122"/>
                <a:sym typeface="+mn-ea"/>
              </a:rPr>
              <a:t>a</a:t>
            </a:r>
            <a:r>
              <a:rPr lang="zh-CN">
                <a:sym typeface="+mn-ea"/>
              </a:rPr>
              <a:t>）</a:t>
            </a:r>
            <a:r>
              <a:rPr lang="en-US">
                <a:latin typeface="宋体" panose="02010600030101010101" pitchFamily="2" charset="-122"/>
                <a:sym typeface="+mn-ea"/>
              </a:rPr>
              <a:t>Φ</a:t>
            </a:r>
            <a:r>
              <a:rPr lang="en-US" baseline="-25000">
                <a:latin typeface="宋体" panose="02010600030101010101" pitchFamily="2" charset="-122"/>
                <a:sym typeface="+mn-ea"/>
              </a:rPr>
              <a:t>B </a:t>
            </a:r>
            <a:r>
              <a:rPr lang="zh-CN">
                <a:sym typeface="+mn-ea"/>
              </a:rPr>
              <a:t>（</a:t>
            </a:r>
            <a:r>
              <a:rPr lang="en-US">
                <a:latin typeface="宋体" panose="02010600030101010101" pitchFamily="2" charset="-122"/>
                <a:sym typeface="+mn-ea"/>
              </a:rPr>
              <a:t>b</a:t>
            </a:r>
            <a:r>
              <a:rPr lang="zh-CN">
                <a:sym typeface="+mn-ea"/>
              </a:rPr>
              <a:t>）</a:t>
            </a:r>
            <a:r>
              <a:rPr lang="en-US">
                <a:latin typeface="Times New Roman" panose="02020603050405020304" pitchFamily="18" charset="0"/>
                <a:sym typeface="+mn-ea"/>
              </a:rPr>
              <a:t>V</a:t>
            </a:r>
            <a:r>
              <a:rPr lang="en-US" baseline="-25000">
                <a:latin typeface="宋体" panose="02010600030101010101" pitchFamily="2" charset="-122"/>
                <a:sym typeface="+mn-ea"/>
              </a:rPr>
              <a:t>bi  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1764665" y="954087"/>
            <a:ext cx="152400" cy="171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pic>
        <p:nvPicPr>
          <p:cNvPr id="2150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8600"/>
            <a:ext cx="7769225" cy="2895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4200"/>
            <a:ext cx="6781800" cy="330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876800"/>
            <a:ext cx="2438400" cy="1387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章</a:t>
            </a:r>
          </a:p>
        </p:txBody>
      </p:sp>
      <p:pic>
        <p:nvPicPr>
          <p:cNvPr id="2253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76400"/>
            <a:ext cx="6600825" cy="3248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1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648200"/>
            <a:ext cx="6067425" cy="542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218</Words>
  <Application>Microsoft Office PowerPoint</Application>
  <PresentationFormat>全屏显示(4:3)</PresentationFormat>
  <Paragraphs>23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宋体</vt:lpstr>
      <vt:lpstr>Arial</vt:lpstr>
      <vt:lpstr>Times New Roman</vt:lpstr>
      <vt:lpstr>Office 主题</vt:lpstr>
      <vt:lpstr>作业</vt:lpstr>
      <vt:lpstr>第2章</vt:lpstr>
      <vt:lpstr>第3章</vt:lpstr>
      <vt:lpstr>PowerPoint 演示文稿</vt:lpstr>
      <vt:lpstr>PowerPoint 演示文稿</vt:lpstr>
      <vt:lpstr>第5章</vt:lpstr>
      <vt:lpstr>PowerPoint 演示文稿</vt:lpstr>
      <vt:lpstr>PowerPoint 演示文稿</vt:lpstr>
      <vt:lpstr>第6章</vt:lpstr>
      <vt:lpstr>PowerPoint 演示文稿</vt:lpstr>
      <vt:lpstr>PowerPoint 演示文稿</vt:lpstr>
      <vt:lpstr>PowerPoint 演示文稿</vt:lpstr>
      <vt:lpstr>第7章</vt:lpstr>
      <vt:lpstr>第8章</vt:lpstr>
      <vt:lpstr>第10章</vt:lpstr>
      <vt:lpstr>PowerPoint 演示文稿</vt:lpstr>
      <vt:lpstr>PowerPoint 演示文稿</vt:lpstr>
      <vt:lpstr>第14章</vt:lpstr>
      <vt:lpstr>PowerPoint 演示文稿</vt:lpstr>
      <vt:lpstr>PowerPoint 演示文稿</vt:lpstr>
      <vt:lpstr>第15章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斯 罗</cp:lastModifiedBy>
  <cp:revision>13</cp:revision>
  <dcterms:created xsi:type="dcterms:W3CDTF">2018-05-29T01:15:00Z</dcterms:created>
  <dcterms:modified xsi:type="dcterms:W3CDTF">2026-06-28T09:16:50Z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2052-10.1.0.7400</vt:lpwstr>
  </property>
</Properties>
</file>